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Tỷ lệ gian lận theo loại GD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gian lận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TRANSFER</c:v>
                  </c:pt>
                  <c:pt idx="1">
                    <c:v>CASH_OUT</c:v>
                  </c:pt>
                  <c:pt idx="2">
                    <c:v>PAYMENT</c:v>
                  </c:pt>
                  <c:pt idx="3">
                    <c:v>CASH_IN</c:v>
                  </c:pt>
                  <c:pt idx="4">
                    <c:v>DEBIT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0.699</c:v>
                </c:pt>
                <c:pt idx="1">
                  <c:v>0.194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3200400"/>
            <a:ext cx="1097280" cy="109728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54864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0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PHÁT HIỆN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 LẬN THỜI GIAN THỰC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 System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926080"/>
            <a:ext cx="1874520" cy="38404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2926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3.4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14600" y="2926080"/>
            <a:ext cx="1874520" cy="38404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514600" y="2926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GBT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2926080"/>
            <a:ext cx="1874520" cy="38404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0" y="2926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29400" y="2926080"/>
            <a:ext cx="1874520" cy="38404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629400" y="2926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PaySim (Kaggle)  •  6,362,620 giao dịch ngân hàng  •  13/04/2026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&amp; CÔNG NGHỆ SỬ DỤNG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Mục tiêu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giao dịch gian lận theo thời gian thực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luồng dữ liệu liên tục với Spark Structured Streaming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mô hình ML (GBT) phân tán trên cluster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8529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hiệu năng với Broadcast Join và AQE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310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exactly-once semantics qua Checkpoint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Stack kỹ thuật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4813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14813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3.11.9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9385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19385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(Temurin)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395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11.0.30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8529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GBT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8529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3101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3101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 — 6.3M dòng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7673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winutils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7673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3.3.6 (Windows)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SPARK STRUCTURED STREAMING — 6 LỚP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743200" cy="150876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" y="960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" y="1344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DỮ LIỆU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Kafka · IoT · Databases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960120"/>
            <a:ext cx="384048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08960" y="868680"/>
            <a:ext cx="2743200" cy="1508760"/>
          </a:xfrm>
          <a:prstGeom prst="rect">
            <a:avLst/>
          </a:prstGeom>
          <a:solidFill>
            <a:srgbClr val="1976D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18688" y="960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218688" y="1344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18688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readStream · Checkpoint · Trigger 10s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960120"/>
            <a:ext cx="384048" cy="384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035040" y="868680"/>
            <a:ext cx="2743200" cy="1508760"/>
          </a:xfrm>
          <a:prstGeom prst="rect">
            <a:avLst/>
          </a:prstGeom>
          <a:solidFill>
            <a:srgbClr val="0288D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144768" y="960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144768" y="1344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DỮ LIỆU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144768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· Window Aggregate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960120"/>
            <a:ext cx="384048" cy="38404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82880" y="2697480"/>
            <a:ext cx="2743200" cy="1508760"/>
          </a:xfrm>
          <a:prstGeom prst="rect">
            <a:avLst/>
          </a:prstGeom>
          <a:solidFill>
            <a:srgbClr val="0097A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292608" y="2788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292608" y="3172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HOÁ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92608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Join +30–70% · AQE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788920"/>
            <a:ext cx="384048" cy="38404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108960" y="2697480"/>
            <a:ext cx="2743200" cy="1508760"/>
          </a:xfrm>
          <a:prstGeom prst="rect">
            <a:avLst/>
          </a:prstGeom>
          <a:solidFill>
            <a:srgbClr val="0079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3218688" y="2788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3218688" y="3172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218688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foreachBatch · JSON/Delta · Alerts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788920"/>
            <a:ext cx="384048" cy="384048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035040" y="2697480"/>
            <a:ext cx="2743200" cy="150876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144768" y="2788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4"/>
          <p:cNvSpPr/>
          <p:nvPr/>
        </p:nvSpPr>
        <p:spPr>
          <a:xfrm>
            <a:off x="6144768" y="3172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144768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Monitor · Metrics · Logs</a:t>
            </a:r>
            <a:endParaRPr lang="en-US" sz="10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78892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1 &amp; 2 — NGUỒN DỮ LIỆU &amp; TIẾP NHẬN STREAM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fraud_engine.py — paysim_schema()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định nghĩa sẵn — không dùng inferSchema: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       → IntegerType  (đơn vị giờ)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482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       → StringType   (TRANSFER / CASH_OUT…)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4323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     → DoubleType   (số tiền)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816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nameOrig    → StringType   (tài khoản gửi)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nameDest    → StringType   (tài khoản nhận)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584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isFraud     → IntegerType  (nhãn thực tế)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fraud_streaming.py — read_stream()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298448"/>
            <a:ext cx="3840480" cy="38404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298448"/>
            <a:ext cx="1645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7960" y="1298448"/>
            <a:ext cx="21031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"json"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755648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maxFilesPerTrigger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1755648"/>
            <a:ext cx="21031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files/batch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212848"/>
            <a:ext cx="3840480" cy="38404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212848"/>
            <a:ext cx="1645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cleanSource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2212848"/>
            <a:ext cx="21031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"off"  (giữ file replay)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670048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670048"/>
            <a:ext cx="1645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2670048"/>
            <a:ext cx="21031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processingTime 10s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127248"/>
            <a:ext cx="3840480" cy="38404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127248"/>
            <a:ext cx="1645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3127248"/>
            <a:ext cx="21031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checkpoints/fraud_stream_v1/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584448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584448"/>
            <a:ext cx="1645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outputMode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3584448"/>
            <a:ext cx="21031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"append"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3 — XỬ LÝ DỮ LIỆU: FEATURE ENGINEERING + EXECUTION PLAN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fraud_engine.py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3977640" cy="347472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61872"/>
            <a:ext cx="15544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balanceOrigDiff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 số dư tài khoản gửi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39776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15544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balanceDestDiff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1645920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 số dư tài khoản nhận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029968"/>
            <a:ext cx="3977640" cy="347472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29968"/>
            <a:ext cx="15544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errorBalanceOrig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20240" y="2029968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số số dư gửi (dấu hiệu gian lận)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414016"/>
            <a:ext cx="39776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414016"/>
            <a:ext cx="15544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errorBalanceDest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2414016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số số dư nhận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798064"/>
            <a:ext cx="3977640" cy="347472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798064"/>
            <a:ext cx="15544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event_time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× 3600 → timestamp (watermark)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182112"/>
            <a:ext cx="39776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182112"/>
            <a:ext cx="15544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is_high_risk_type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3182112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TRANSFER/CASH_OUT = 1, khác = 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566160"/>
            <a:ext cx="3977640" cy="347472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txn_count_window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20240" y="3566160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GD trong cửa sổ 10 hàng gần nhất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950208"/>
            <a:ext cx="39776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950208"/>
            <a:ext cx="15544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total_amount_window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20240" y="3950208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tiền cửa sổ 10 hàng gần nhất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804672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solidFill>
            <a:srgbClr val="01579B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 (kết quả thực tế)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1261872"/>
            <a:ext cx="3977640" cy="41148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126187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1261872"/>
            <a:ext cx="1188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csv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paysim.csv từ disk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1719072"/>
            <a:ext cx="39776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828032" y="171907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66360" y="1719072"/>
            <a:ext cx="1188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1%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1719072"/>
            <a:ext cx="2331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mẫu huấn luyện (seed=42)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2176272"/>
            <a:ext cx="3977640" cy="41148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43" name="Text 41"/>
          <p:cNvSpPr/>
          <p:nvPr/>
        </p:nvSpPr>
        <p:spPr>
          <a:xfrm>
            <a:off x="4828032" y="217627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66360" y="2176272"/>
            <a:ext cx="1188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55080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6 feature mới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2633472"/>
            <a:ext cx="39776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828032" y="263347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66360" y="2633472"/>
            <a:ext cx="1188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Exchange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55080" y="2633472"/>
            <a:ext cx="2331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theo nameOrig (4 partitions)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0600" y="3090672"/>
            <a:ext cx="3977640" cy="41148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51" name="Text 49"/>
          <p:cNvSpPr/>
          <p:nvPr/>
        </p:nvSpPr>
        <p:spPr>
          <a:xfrm>
            <a:off x="4828032" y="309067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66360" y="3090672"/>
            <a:ext cx="1188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55080" y="3090672"/>
            <a:ext cx="2331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theo nameOrig + step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00600" y="3547872"/>
            <a:ext cx="39776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828032" y="354787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166360" y="3547872"/>
            <a:ext cx="1188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55080" y="3547872"/>
            <a:ext cx="2331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txn_count &amp; total_amount window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00600" y="4005072"/>
            <a:ext cx="3977640" cy="41148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59" name="Text 57"/>
          <p:cNvSpPr/>
          <p:nvPr/>
        </p:nvSpPr>
        <p:spPr>
          <a:xfrm>
            <a:off x="4828032" y="400507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66360" y="4005072"/>
            <a:ext cx="1188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InMemory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355080" y="4005072"/>
            <a:ext cx="23317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kết quả vào RAM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4 — TỐI ƯU HOÁ: BROADCAST JOIN + AQE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645920"/>
          </a:xfrm>
          <a:prstGeom prst="rect">
            <a:avLst/>
          </a:prstGeom>
          <a:solidFill>
            <a:srgbClr val="0288D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412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+30–50%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Join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Multi Aggregation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777240"/>
            <a:ext cx="2743200" cy="1645920"/>
          </a:xfrm>
          <a:prstGeom prst="rect">
            <a:avLst/>
          </a:prstGeom>
          <a:solidFill>
            <a:srgbClr val="0097A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412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+30–70%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Join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10 MB)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777240"/>
            <a:ext cx="2743200" cy="1645920"/>
          </a:xfrm>
          <a:prstGeom prst="rect">
            <a:avLst/>
          </a:prstGeom>
          <a:solidFill>
            <a:srgbClr val="0079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8412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1.5–3×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264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 hơn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với shuffle join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4114800" cy="219456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06040"/>
            <a:ext cx="4114800" cy="38404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606040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Broadcast Join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06324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(81 tài khoản) được copy vào RAM của mỗi executor.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cần shuffle dữ liệu lớn khi join.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F.broadcast(blacklist_df)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autoBroadcastJoinThreshold = 20MB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2194560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606040"/>
            <a:ext cx="4114800" cy="384048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606040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AQE — Adaptive Query Execution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06324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tự động tối ưu execution plan: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Gộp partition nhỏ (coalescePartitions)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Xử lý data lệch (skewJoin)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cần can thiệp thủ công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5 — LƯU TRỮ: foreachBatch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1572768" cy="219456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686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" y="1353312"/>
            <a:ext cx="15727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2880" y="1828800"/>
            <a:ext cx="1572768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transforms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balanceDiff, errorBalance…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92224" y="1920240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3936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38528" y="822960"/>
            <a:ext cx="1572768" cy="2194560"/>
          </a:xfrm>
          <a:prstGeom prst="rect">
            <a:avLst/>
          </a:prstGeom>
          <a:solidFill>
            <a:srgbClr val="0288D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38528" y="8686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38528" y="1353312"/>
            <a:ext cx="15727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Features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38528" y="1828800"/>
            <a:ext cx="1572768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aggregation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txn_count, total_amount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47872" y="1920240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94176" y="822960"/>
            <a:ext cx="1572768" cy="2194560"/>
          </a:xfrm>
          <a:prstGeom prst="rect">
            <a:avLst/>
          </a:prstGeom>
          <a:solidFill>
            <a:srgbClr val="0097A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94176" y="8686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94176" y="1353312"/>
            <a:ext cx="15727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Join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94176" y="1828800"/>
            <a:ext cx="1572768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check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F.broadcast(blacklist_df)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0" y="1920240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49824" y="822960"/>
            <a:ext cx="1572768" cy="2194560"/>
          </a:xfrm>
          <a:prstGeom prst="rect">
            <a:avLst/>
          </a:prstGeom>
          <a:solidFill>
            <a:srgbClr val="0079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49824" y="8686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49824" y="1353312"/>
            <a:ext cx="15727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49824" y="1828800"/>
            <a:ext cx="1572768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model.transform(df)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GBT prediction (distributed)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59168" y="1920240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05472" y="822960"/>
            <a:ext cx="1572768" cy="219456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05472" y="8686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205472" y="1353312"/>
            <a:ext cx="15727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Override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205472" y="1828800"/>
            <a:ext cx="1572768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Blacklisted account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always fraud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200400"/>
            <a:ext cx="85953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200400"/>
            <a:ext cx="859536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200400"/>
            <a:ext cx="8503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Output — Kết quả ghi ra disk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36758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output/fraud_alerts/batch_XXXXXX/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36758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 JSON của từng batch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023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checkpoints/fraud_stream_v1/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4023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Exactly-once semantics (resume sau crash)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370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models/gbt_fraud_model/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4370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Mô hình GBT đã huấn luyện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THỰC TẾ — EDA &amp; MÔ HÌNH GBT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77724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754880" y="777240"/>
            <a:ext cx="41148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80060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mô hình GBT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234440"/>
            <a:ext cx="3977640" cy="32004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32320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581912"/>
            <a:ext cx="3977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581912"/>
            <a:ext cx="22860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32320" y="1581912"/>
            <a:ext cx="1463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00600" y="1929384"/>
            <a:ext cx="3977640" cy="32004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1929384"/>
            <a:ext cx="22860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32320" y="1929384"/>
            <a:ext cx="1463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800600" y="2276856"/>
            <a:ext cx="3977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2276856"/>
            <a:ext cx="22860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32320" y="2276856"/>
            <a:ext cx="1463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800600" y="2624328"/>
            <a:ext cx="3977640" cy="32004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2624328"/>
            <a:ext cx="22860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132320" y="2624328"/>
            <a:ext cx="1463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800600" y="2971800"/>
            <a:ext cx="3977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13232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74320" y="3657600"/>
            <a:ext cx="8595360" cy="365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8" name="Text 25"/>
          <p:cNvSpPr/>
          <p:nvPr/>
        </p:nvSpPr>
        <p:spPr>
          <a:xfrm>
            <a:off x="3200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" y="40965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newbalanceOrig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65760" y="4389120"/>
            <a:ext cx="1287109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8"/>
          <p:cNvSpPr/>
          <p:nvPr/>
        </p:nvSpPr>
        <p:spPr>
          <a:xfrm>
            <a:off x="1698589" y="4389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41.4%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84832" y="40965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newbalanceDest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084832" y="4389120"/>
            <a:ext cx="724388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4" name="Text 31"/>
          <p:cNvSpPr/>
          <p:nvPr/>
        </p:nvSpPr>
        <p:spPr>
          <a:xfrm>
            <a:off x="2854940" y="4389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23.3%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803904" y="40965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oldbalanceOrg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803904" y="4389120"/>
            <a:ext cx="475671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7" name="Text 34"/>
          <p:cNvSpPr/>
          <p:nvPr/>
        </p:nvSpPr>
        <p:spPr>
          <a:xfrm>
            <a:off x="4325295" y="4389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522976" y="40965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522976" y="4389120"/>
            <a:ext cx="205191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0" name="Text 37"/>
          <p:cNvSpPr/>
          <p:nvPr/>
        </p:nvSpPr>
        <p:spPr>
          <a:xfrm>
            <a:off x="5773887" y="4389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242048" y="40965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balanceOrigDiff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242048" y="4389120"/>
            <a:ext cx="139903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3" name="Text 40"/>
          <p:cNvSpPr/>
          <p:nvPr/>
        </p:nvSpPr>
        <p:spPr>
          <a:xfrm>
            <a:off x="7427671" y="4389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TRÌNH CÀI ĐẶT — CÁC LỖI GẶP PHẢI &amp; CÁCH XỬ LÝ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502920" cy="12618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502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859536"/>
            <a:ext cx="7863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không nhận diện được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nhân: Python cài qua Microsoft Store, không thêm vào PATH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481328"/>
            <a:ext cx="7863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Cài Python 3.11 từ python.org, tick 'Add to PATH'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737360"/>
            <a:ext cx="78638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 + python hoạt động bình thường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859536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94560"/>
            <a:ext cx="502920" cy="12618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194560"/>
            <a:ext cx="502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249424"/>
            <a:ext cx="7863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getSubject is not supported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596896"/>
            <a:ext cx="7863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nhân: Java 17/21 xóa Subject.getSubject() — Hadoop 3.3.4 vẫn dùng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871216"/>
            <a:ext cx="7863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Cài Java 11 (Temurin), set JAVA_HOME + PATH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127248"/>
            <a:ext cx="78638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SparkSession khởi động: master=local[*]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584448"/>
            <a:ext cx="859536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584448"/>
            <a:ext cx="502920" cy="12618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584448"/>
            <a:ext cx="502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3639312"/>
            <a:ext cx="7863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NativeIO$Windows.access0 error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986784"/>
            <a:ext cx="7863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nhân: winutils.exe không khớp version Hadoop trong PySpark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4261104"/>
            <a:ext cx="7863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Tải winutils.exe + hadoop.dll v3.3.6 → C:\hadoop\bin\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4517136"/>
            <a:ext cx="78638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Spark đọc/ghi CSV và JSON thành công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CHẠY THỰC TẾ — DEMO OUTPUT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39776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503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Output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51206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SparkSession created: master=local[*]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51206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Total rows: 64,162 | Fraud: 81 (0.13%)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911096"/>
            <a:ext cx="51206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Blacklist built: 81 accounts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249424"/>
            <a:ext cx="51206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Feature engineering complete. Caching...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587752"/>
            <a:ext cx="51206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AUC-ROC: 1.0000 | F1: 1.0000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51206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Model saved → models/gbt_fraud_model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264408"/>
            <a:ext cx="51206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Simulator: 6,362,620 rows total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602736"/>
            <a:ext cx="51206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Batch 000000 written → stream_input/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941064"/>
            <a:ext cx="51206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STEP 4: Starting Streaming Inference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4279392"/>
            <a:ext cx="51206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Fraud Query ID: started ✓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06440" y="804672"/>
            <a:ext cx="1463040" cy="18288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107899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64,162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806440" y="19019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dịch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06640" y="804672"/>
            <a:ext cx="1463040" cy="182880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107899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81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406640" y="19019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06440" y="2816352"/>
            <a:ext cx="1463040" cy="182880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06440" y="309067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0.13%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806440" y="39136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 lận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06640" y="2816352"/>
            <a:ext cx="1463040" cy="18288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06640" y="309067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1.000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06640" y="39136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6576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170432"/>
            <a:ext cx="8412480" cy="566928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17043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1170432"/>
            <a:ext cx="1554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60320" y="1170432"/>
            <a:ext cx="6126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Java 11 + PySpark 3.4 + winutils 3.3.6 trên Windows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1828800"/>
            <a:ext cx="8412480" cy="566928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" y="18288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0120" y="1828800"/>
            <a:ext cx="1554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60320" y="1828800"/>
            <a:ext cx="6126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64,162 giao dịch từ PaySim 6.3M bản ghi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487168"/>
            <a:ext cx="8412480" cy="566928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2920" y="248716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487168"/>
            <a:ext cx="1554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GBT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60320" y="2487168"/>
            <a:ext cx="6126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= 1.0 | F1 = 1.0 | Accuracy = 1.0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3145536"/>
            <a:ext cx="8412480" cy="566928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02920" y="314553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0120" y="3145536"/>
            <a:ext cx="1554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560320" y="3145536"/>
            <a:ext cx="6126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foreachBatch hoạt động ổn định, batch 10 giây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3803904"/>
            <a:ext cx="8412480" cy="566928"/>
          </a:xfrm>
          <a:prstGeom prst="rect">
            <a:avLst/>
          </a:prstGeom>
          <a:solidFill>
            <a:srgbClr val="16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02920" y="380390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60120" y="3803904"/>
            <a:ext cx="1554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560320" y="3803904"/>
            <a:ext cx="6126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Join loại bỏ shuffle | AQE tự động tối ưu plan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mở rộng sang Kafka &amp; triển khai trên Databricks cluster — không thay đổi business logic.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Phát hiện Gian lận Thời gian Thực</dc:title>
  <dc:subject>PptxGenJS Presentation</dc:subject>
  <dc:creator>PptxGenJS</dc:creator>
  <cp:lastModifiedBy>PptxGenJS</cp:lastModifiedBy>
  <cp:revision>1</cp:revision>
  <dcterms:created xsi:type="dcterms:W3CDTF">2026-04-13T06:50:12Z</dcterms:created>
  <dcterms:modified xsi:type="dcterms:W3CDTF">2026-04-13T06:50:12Z</dcterms:modified>
</cp:coreProperties>
</file>